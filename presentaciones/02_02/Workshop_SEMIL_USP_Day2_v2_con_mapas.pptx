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YORK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Riesgos climaticos, salud y perdida de biodiversidad</a:t>
            </a:r>
            <a:br/>
            <a:r>
              <a:t>predicen politicas de adaptacion...</a:t>
            </a:r>
            <a:br/>
            <a:r>
              <a:t>excepto donde mas se necesitan</a:t>
            </a:r>
          </a:p>
          <a:p>
            <a:pPr algn="ctr">
              <a:spcBef>
                <a:spcPts val="2000"/>
              </a:spcBef>
              <a:defRPr sz="1800">
                <a:solidFill>
                  <a:srgbClr val="ECF0F1"/>
                </a:solidFill>
              </a:defRPr>
            </a:pPr>
            <a:r>
              <a:t>Evidencia de 645 municipios de Sao Paulo (2010-2019)</a:t>
            </a:r>
            <a:br/>
            <a:br/>
            <a:r>
              <a:t>Workshop SEMIL-USP | 24 de febrero 2026</a:t>
            </a:r>
            <a:br/>
            <a:r>
              <a:t>Universidade de Sao Paulo &amp; University of York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La gobernanza climatica en Sao Paulo</a:t>
            </a:r>
            <a:br/>
            <a:r>
              <a:t>es PROACTIVA o REACTIVA?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PROACTIVA: Anticipa riesgos, invierte antes de crisis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REACTIVA: Responde a desastres, invierte despues de crisis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Esta es la pregunta que guia nuestro analisis...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El Nexo Biodiversidad-Clima-Salud-Gobernanza</a:t>
            </a:r>
          </a:p>
        </p:txBody>
      </p:sp>
      <p:pic>
        <p:nvPicPr>
          <p:cNvPr id="4" name="Picture 3" descr="h1_FIG1_causa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59769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Diagrama causal: Biodiversidad -&gt; Servicios Ecosistemicos -&gt; Salud &lt;- Clima &lt;- Gobernanza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645 municipios x 104 variables x 10 anos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Fuente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26 indicadores UAI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Neder et al. 2021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Riqueza, cobertura, polinizacion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IBGE, MapBiomas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Clima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Inundacion, fuego, estres hidrico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INPE, ANA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Salud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7 enfermedades + mortalidad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DATASUS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Vulnerabilidad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Pobreza, ruralidad, demografia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CadUnico, IBGE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 tuvieramos recursos LIMITADOS</a:t>
            </a:r>
            <a:br/>
            <a:r>
              <a:t>para intervenir...</a:t>
            </a:r>
            <a:br/>
            <a:br/>
            <a:r>
              <a:t>Como priorizariamos los 645 municipios?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mas riesgo climatico?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mas vulnerabilidad social?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Donde hay menos gobernanza?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Hallazgo 1: Mas gobernanza NO significa menos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F57C00"/>
                </a:solidFill>
              </a:defRPr>
            </a:pPr>
            <a:r>
              <a:t>Correlacion POSITIVA (r = +0.29)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Municipios con MEJOR gobernanza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tienen MAYOR riesgo climatico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2C3E50"/>
                </a:solidFill>
              </a:defRPr>
            </a:pPr>
            <a:r>
              <a:t>Por que?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La gobernanza responde al riesgo,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no lo previene.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2C3E50"/>
                </a:solidFill>
              </a:defRPr>
            </a:pPr>
            <a:r>
              <a:t>Modelo causal: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RIESGO -&gt; DESASTRE -&gt; INVERSION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(reactivo, no preventivo)</a:t>
            </a:r>
          </a:p>
        </p:txBody>
      </p:sp>
      <p:pic>
        <p:nvPicPr>
          <p:cNvPr id="5" name="Picture 4" descr="h1_MAP3_bivariate_governance_cl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4499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0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</a:defRPr>
            </a:pPr>
            <a:r>
              <a:t>27%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La pobreza anula el efecto de la gobernanza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27% de la varianza en gobernanza es explicada por pobreza</a:t>
            </a:r>
            <a:br/>
            <a:br/>
            <a:r>
              <a:t>Los municipios mas pobres tienen menos capacidad adaptativa</a:t>
            </a:r>
            <a:br/>
            <a:r>
              <a:t>Pero son los que mas la necesitan.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Mapas Bivariados: Evidencia de Injusticia Ambiental</a:t>
            </a:r>
          </a:p>
        </p:txBody>
      </p:sp>
      <p:pic>
        <p:nvPicPr>
          <p:cNvPr id="4" name="Picture 3" descr="h1_MAP5_bivariate_poverty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4724564"/>
          </a:xfrm>
          <a:prstGeom prst="rect">
            <a:avLst/>
          </a:prstGeom>
        </p:spPr>
      </p:pic>
      <p:pic>
        <p:nvPicPr>
          <p:cNvPr id="5" name="Picture 4" descr="h1_MAP2_bivariate_governance_bio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760720" cy="4724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Pobreza x Carga de Enfermedad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943600"/>
            <a:ext cx="5760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Gobernanza x Biodiversidad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Hallazgo 3: La biodiversidad protege - pero no a todos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 b="1">
                <a:solidFill>
                  <a:srgbClr val="2C3E50"/>
                </a:solidFill>
              </a:defRPr>
            </a:pPr>
            <a:r>
              <a:t>Efecto Dilucion confirmado: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Bosque -&gt; Dengue: r = -0.45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Bosque -&gt; Malaria: r = -0.45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Bosque -&gt; Diarrea: r = -0.41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DC3545"/>
                </a:solidFill>
              </a:defRPr>
            </a:pPr>
            <a:r>
              <a:t>PERO el beneficio NO es igual: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Alta pobreza -&gt; Reduce beneficio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Alta % pob. negra -&gt; Reduce beneficio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Justicia ambiental: el servicio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ecosistemico existe pero no se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distribuye equitativamente</a:t>
            </a:r>
          </a:p>
        </p:txBody>
      </p:sp>
      <p:pic>
        <p:nvPicPr>
          <p:cNvPr id="5" name="Picture 4" descr="h1_scatter_forest_dengue_pobre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38102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Mapa Bivariado: Cobertura Forestal y Dengue</a:t>
            </a:r>
          </a:p>
        </p:txBody>
      </p:sp>
      <p:pic>
        <p:nvPicPr>
          <p:cNvPr id="4" name="Picture 3" descr="h1_MAP1_bivariate_forest_den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78742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Azul: Alto bosque + Bajo dengue | Rojo: Bajo bosque + Alto dengue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Hallazgo 4: Cada enfermedad tiene su propia firma de predictores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Enfermedad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Mejor predictor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Gobernanza ayuda?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Dengue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Rural (-)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(indice general)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Malaria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Cobertura forestal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riesgo)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Leptospirosis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 (-)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Leishmaniasis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Estres hidrico (-)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Diarrea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Riesgo fuego (+)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No significativo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Mort. CV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Pob. Negra (+)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movilidad)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Hosp. Resp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Pob. Negra (+)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Si (UAI movilidad)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Seleccion de Modelos: Variables Especificas vs Indices Compuestos</a:t>
            </a:r>
          </a:p>
        </p:txBody>
      </p:sp>
      <p:pic>
        <p:nvPicPr>
          <p:cNvPr id="4" name="Picture 3" descr="h1_model_sele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7195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75% de las veces, una variable especifica supera al indice compuesto (AIC)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Los 4 Cuadrantes de Sao Paulo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 b="1">
                <a:solidFill>
                  <a:srgbClr val="28A745"/>
                </a:solidFill>
              </a:defRPr>
            </a:pPr>
            <a:r>
              <a:t>Q1 - Modelo (212)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Bajo riesgo, baja vulnerab. -&gt; Mantener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2E86AB"/>
                </a:solidFill>
              </a:defRPr>
            </a:pPr>
            <a:r>
              <a:t>Q2 - Conservar (110)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Alto riesgo, baja vulnerab. -&gt; Fortalecer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DC3545"/>
                </a:solidFill>
              </a:defRPr>
            </a:pPr>
            <a:r>
              <a:t>Q3 - VULNERABLE (210)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Bajo riesgo, ALTA vulnerab. -&gt; INTERVENCION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57C00"/>
                </a:solidFill>
              </a:defRPr>
            </a:pPr>
            <a:r>
              <a:t>Q4 - Desarrollo (113)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Alto riesgo, alta vulnerab. -&gt; Restaurar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2C3E50"/>
                </a:solidFill>
              </a:defRPr>
            </a:pPr>
            <a:r>
              <a:t>210 municipios en Q3: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  Invisibles para politicas reactivas</a:t>
            </a:r>
          </a:p>
        </p:txBody>
      </p:sp>
      <p:pic>
        <p:nvPicPr>
          <p:cNvPr id="5" name="Picture 4" descr="h1_MAP2_bivariate_vuln_clim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486400" cy="48955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Los 10 Municipios del Workshop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Municipio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Cuadrante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Pobreza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Riesgo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Dengue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Gobernanza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Iporanga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54.2%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Campinas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Santos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S. Joaquim Barra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Miracatu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Eldorado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Francisco Morato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Sao Paulo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Alta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Aruja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Cerquilho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Baja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Media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5 Paradojas que desafian la intuicion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1. Paradoja de gobernanza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Mas politicas -&gt; mas riesgo (reactivo, no preventivo)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2. Paradoja de pobreza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Los mas vulnerables -&gt; menos capacidad adaptativa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3. Paradoja del bosque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Mas cobertura forestal -&gt; menos gobernanza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4. Paradoja de salud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Mortalidad CV no correlaciona con riesgo climatico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5. Paradoja de polinizacion</a:t>
            </a:r>
          </a:p>
          <a:p>
            <a:pPr>
              <a:spcBef>
                <a:spcPts val="800"/>
              </a:spcBef>
              <a:defRPr sz="1600" b="0">
                <a:solidFill>
                  <a:srgbClr val="2C3E50"/>
                </a:solidFill>
              </a:defRPr>
            </a:pPr>
            <a:r>
              <a:t>   Deficit polinizacion -&gt; mas gobernanza ambiental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 la evidencia a la accion: Las actividades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 b="1">
                <a:solidFill>
                  <a:srgbClr val="2E86AB"/>
                </a:solidFill>
              </a:defRPr>
            </a:pPr>
            <a:r>
              <a:t>ACTIVIDAD 2.1: Ranking de Municipios (30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En grupos, ordenen los 10 municipios por prioridad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Justifiquen sus criterios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28A745"/>
                </a:solidFill>
              </a:defRPr>
            </a:pPr>
            <a:r>
              <a:t>ACTIVIDAD 2.2: Knowledge Budgets (45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Tienen 10 creditos para 'comprar' informacion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Que datos necesitan para decidir mejor?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F57C00"/>
                </a:solidFill>
              </a:defRPr>
            </a:pPr>
            <a:r>
              <a:t>ACTIVIDAD 2.3: Discusion de Paradojas (30 min)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Como disenar politicas proactivas?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Como priorizar Q3 (vulnerables sin desastres)?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Sistema de Creditos: Que informacion comprarian?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Capa de informacion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Costo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Lo que revela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Mapa de inundaciones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Riesgo especifico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Cobertura forestal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Servicios ecosistemicos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Incidencia de dengue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Carga de enfermedad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Poblacion negra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Justicia ambiental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% Pobreza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Vulnerabilidad economica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Indice gobernanza (UAI)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3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Capacidad institucional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Riqueza de especies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Biodiversidad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Deficit polinizacion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Degradacion agricola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Mortalidad CV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2 creditos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Impacto en salud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Poblacion 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1 credito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</a:defRPr>
                      </a:pPr>
                      <a:r>
                        <a:t>Contexto territorial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Como pasamos de gobernanza</a:t>
            </a:r>
            <a:br/>
            <a:r>
              <a:t>REACTIVA a PROACTIVA?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1. Invertir ANTES del desastre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2. Priorizar VULNERABILIDAD sobre RIESGO</a:t>
            </a:r>
          </a:p>
          <a:p>
            <a:pPr algn="l">
              <a:spcBef>
                <a:spcPts val="1200"/>
              </a:spcBef>
              <a:defRPr sz="2200">
                <a:solidFill>
                  <a:srgbClr val="ECF0F1"/>
                </a:solidFill>
              </a:defRPr>
            </a:pPr>
            <a:r>
              <a:t>3. Integrar BIODIVERSIDAD en politicas de salud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BACKUP: Gobernanza y todas las dimensiones del Nexus</a:t>
            </a:r>
          </a:p>
        </p:txBody>
      </p:sp>
      <p:pic>
        <p:nvPicPr>
          <p:cNvPr id="4" name="Picture 3" descr="h1_governance_all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84392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Relaciones entre gobernanza (UAI) y biodiversidad, clima, salud, vulnerabilidad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BACKUP: Componentes del Urban Adaptation Index (UAI)</a:t>
            </a:r>
          </a:p>
        </p:txBody>
      </p:sp>
      <p:pic>
        <p:nvPicPr>
          <p:cNvPr id="4" name="Picture 3" descr="h1_governance_components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11286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UAI_Movilidad emerge como predictor dominante en casi todas las dimensiones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BACKUP: Correlaciones del Nexus Completo</a:t>
            </a:r>
          </a:p>
        </p:txBody>
      </p:sp>
      <p:pic>
        <p:nvPicPr>
          <p:cNvPr id="4" name="Picture 3" descr="h1_heatmap_nex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84646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38/51 correlaciones significativas entre biodiversidad, clima, salud y gobernanza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t>BACKUP: Modelo SEM para Dengue</a:t>
            </a:r>
          </a:p>
        </p:txBody>
      </p:sp>
      <p:pic>
        <p:nvPicPr>
          <p:cNvPr id="4" name="Picture 3" descr="h1_sem_den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9601200" cy="59830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C3E50"/>
                </a:solidFill>
              </a:defRPr>
            </a:pPr>
            <a:r>
              <a:t>Structural Equation Model: Biodiversidad -&gt; Deficit Polinizacion -&gt; Dengue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BACKUP: Referencias Cientificas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Marco conceptual: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Levers et al. (2025) - Nexus assessment framework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Barreto et al. (2025) - Planetary health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Keesing et al. (2010) - Dilution effect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Neder et al. (2021) - Urban Adaptation Index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defRPr sz="2000" b="1">
                <a:solidFill>
                  <a:srgbClr val="2C3E50"/>
                </a:solidFill>
              </a:defRPr>
            </a:pPr>
            <a:r>
              <a:t>Metodologia: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Nakagawa &amp; Schielzeth (2013) - R2 marginal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Burnham &amp; Anderson (2002) - Model selection AIC</a:t>
            </a:r>
          </a:p>
          <a:p>
            <a:pPr>
              <a:spcBef>
                <a:spcPts val="800"/>
              </a:spcBef>
              <a:defRPr sz="1800">
                <a:solidFill>
                  <a:srgbClr val="2C3E50"/>
                </a:solidFill>
              </a:defRPr>
            </a:pPr>
            <a:r>
              <a:t>  MacKinnon et al. (2002) - Mediation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</a:defRPr>
            </a:pPr>
            <a:r>
              <a:t>YORK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Obrigado! / Gracias! / Thank you!</a:t>
            </a:r>
          </a:p>
          <a:p>
            <a:pPr algn="ctr">
              <a:spcBef>
                <a:spcPts val="2000"/>
              </a:spcBef>
              <a:defRPr sz="1800">
                <a:solidFill>
                  <a:srgbClr val="ECF0F1"/>
                </a:solidFill>
              </a:defRPr>
            </a:pPr>
            <a:r>
              <a:t>Projeto em colaboracao entre</a:t>
            </a:r>
            <a:br/>
            <a:r>
              <a:t>Universidade de Sao Paulo &amp; University of York</a:t>
            </a:r>
            <a:br/>
            <a:br/>
            <a:r>
              <a:t>Contato: adrian.gonzalez@usp.br</a:t>
            </a:r>
            <a:br/>
            <a:br/>
            <a:r>
              <a:t>Dados e codigo: github.com/adgch86/saopaulo-biodiversity-health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
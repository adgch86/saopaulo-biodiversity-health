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Riesgos climaticos, salud y perdida de biodiversidad</a:t>
            </a:r>
            <a:br/>
            <a:r>
              <a:t>predicen politicas de adaptacion...</a:t>
            </a:r>
            <a:br/>
            <a:r>
              <a:t>excepto donde mas se necesitan</a:t>
            </a:r>
          </a:p>
          <a:p>
            <a:pPr algn="ctr">
              <a:spcBef>
                <a:spcPts val="2000"/>
              </a:spcBef>
              <a:defRPr sz="2000">
                <a:solidFill>
                  <a:srgbClr val="ECF0F1"/>
                </a:solidFill>
              </a:defRPr>
            </a:pPr>
            <a:r>
              <a:t>Evidencia de 645 municipios de Sao Paulo (2010-2019)</a:t>
            </a:r>
            <a:br/>
            <a:br/>
            <a:r>
              <a:t>Workshop SEMIL-USP | 24 de febrero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La gobernanza climatica en Sao Paulo</a:t>
            </a:r>
            <a:br/>
            <a:r>
              <a:t>es PROACTIVA o REACTIVA?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PROACTIVA: Anticipa riesgos, invierte antes de crisis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REACTIVA: Responde a desastres, invierte despues de crisis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Esta es la pregunta que guia nuestro analisis...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El Nexo Biodiversidad-Clima-Salud-Gobernanza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Cuatro dimensiones interconectadas: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2C3E50"/>
                </a:solidFill>
              </a:defRPr>
            </a:pPr>
            <a:r>
              <a:t>BIODIVERSIDAD - Servicios ecosistemicos (polinizacion, regulacion)</a:t>
            </a:r>
          </a:p>
          <a:p>
            <a:pPr>
              <a:spcBef>
                <a:spcPts val="800"/>
              </a:spcBef>
              <a:defRPr sz="1400" b="0">
                <a:solidFill>
                  <a:srgbClr val="28A745"/>
                </a:solidFill>
              </a:defRPr>
            </a:pPr>
            <a:r>
              <a:t>   Efecto dilucion: ecosistemas diversos reducen transmision de patogenos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2C3E50"/>
                </a:solidFill>
              </a:defRPr>
            </a:pPr>
            <a:r>
              <a:t>CLIMA - Riesgos (inundaciones, fuego, sequia, calor)</a:t>
            </a:r>
          </a:p>
          <a:p>
            <a:pPr>
              <a:spcBef>
                <a:spcPts val="800"/>
              </a:spcBef>
              <a:defRPr sz="1400" b="0">
                <a:solidFill>
                  <a:srgbClr val="F57C00"/>
                </a:solidFill>
              </a:defRPr>
            </a:pPr>
            <a:r>
              <a:t>   Exposicion diferencial segun territorio y vulnerabilidad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2C3E50"/>
                </a:solidFill>
              </a:defRPr>
            </a:pPr>
            <a:r>
              <a:t>SALUD - Indicadores de impacto (dengue, malaria, cardiovascular)</a:t>
            </a:r>
          </a:p>
          <a:p>
            <a:pPr>
              <a:spcBef>
                <a:spcPts val="800"/>
              </a:spcBef>
              <a:defRPr sz="1400" b="0">
                <a:solidFill>
                  <a:srgbClr val="DC3545"/>
                </a:solidFill>
              </a:defRPr>
            </a:pPr>
            <a:r>
              <a:t>   Proxy de la calidad del ambiente y acceso a servicios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2C3E50"/>
                </a:solidFill>
              </a:defRPr>
            </a:pPr>
            <a:r>
              <a:t>GOBERNANZA - Capacidad adaptativa (UAI - 5 dimensiones)</a:t>
            </a:r>
          </a:p>
          <a:p>
            <a:pPr>
              <a:spcBef>
                <a:spcPts val="800"/>
              </a:spcBef>
              <a:defRPr sz="1400" b="0">
                <a:solidFill>
                  <a:srgbClr val="2E86AB"/>
                </a:solidFill>
              </a:defRPr>
            </a:pPr>
            <a:r>
              <a:t>   Previene riesgos o responde a ellos?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645 municipios x 104 variables x 10 anos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Fuente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Gobernanza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26 indicadores UAI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Neder et al. 2021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Biodiversidad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Riqueza, cobertura, polinizacion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IBGE, MapBiomas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Clima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Inundacion, fuego, estres hidrico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INPE, ANA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Salud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 enfermedades + mortalidad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DATASUS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Vulnerabilidad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Pobreza, ruralidad, demografia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CadUnico, IBGE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Si tuvieramos recursos LIMITADOS</a:t>
            </a:r>
            <a:br/>
            <a:r>
              <a:t>para intervenir...</a:t>
            </a:r>
            <a:br/>
            <a:br/>
            <a:r>
              <a:t>Como priorizariamos los 645 municipios?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Donde hay mas riesgo climatico?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Donde hay mas vulnerabilidad social?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Donde hay menos gobernanza?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Los datos revelan patrones que desafian nuestra intuicion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Hallazgo 1: Mas gobernanza NO significa menos riesgo climatico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 b="1">
                <a:solidFill>
                  <a:srgbClr val="F57C00"/>
                </a:solidFill>
              </a:defRPr>
            </a:pPr>
            <a:r>
              <a:t>La correlacion es POSITIVA (r = +0.29)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Los municipios con MEJOR gobernanza tienen MAYOR riesgo climatico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Por que? La gobernanza responde al riesgo, no lo previene.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2C3E50"/>
                </a:solidFill>
              </a:defRPr>
            </a:pPr>
            <a:r>
              <a:t>Modelo causal encontrado: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2E86AB"/>
                </a:solidFill>
              </a:defRPr>
            </a:pPr>
            <a:r>
              <a:t>RIESGO --&gt; DESASTRE --&gt; INVERSION --&gt; GOBERNANZA</a:t>
            </a:r>
          </a:p>
          <a:p>
            <a:pPr>
              <a:spcBef>
                <a:spcPts val="800"/>
              </a:spcBef>
              <a:defRPr sz="1600" b="0">
                <a:solidFill>
                  <a:srgbClr val="DC3545"/>
                </a:solidFill>
              </a:defRPr>
            </a:pPr>
            <a:r>
              <a:t>(reactivo, no preventivo)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Los municipios desarrollan capacidad DESPUES de sufrir eventos adversos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430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</a:defRPr>
            </a:pPr>
            <a:r>
              <a:t>27%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 pobreza anula el efecto de la gobernanza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27% de la varianza en gobernanza es explicada por pobreza</a:t>
            </a:r>
            <a:br/>
            <a:br/>
            <a:r>
              <a:t>Los municipios mas pobres tienen menos capacidad adaptativa</a:t>
            </a:r>
            <a:br/>
            <a:r>
              <a:t>Pero son los que mas la necesitan.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Hallazgo 3: La biodiversidad protege - pero no a todos igual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Relacion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Correlacion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Interpretacion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Bosque - Dengue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 = -0.45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Protege fuerte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Bosque - Malaria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 = -0.45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Protege fuerte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Bosque - Diarrea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 = -0.41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Protege moderado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PERO...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 pobreza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--&gt;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Reduce beneficio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 % pob. negra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--&gt;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Reduce beneficio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Hallazgo 4: Cada enfermedad tiene su propia firma de predictores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Enfermedad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Mejor predictor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Gobernanza ayuda?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Dengue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Rural (-)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 (indice general)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Malaria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Cobertura forestal (+)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 (UAI riesgo)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Leptospirosis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Biodiversidad (-)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significativo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Leishmaniasis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Estres hidrico (-)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significativo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Diarrea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Riesgo fuego (+)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significativo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Mort.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Pob. Negra (+)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 (UAI movilidad)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Hosp. Resp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Pob. Negra (+)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 (UAI movilidad)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Los 4 Cuadrantes de Sao Paulo: 645 municipios, 4 realidades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Cuadrante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Estrategia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Q1 - Modelo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Bajo riesgo, baja vulnerab.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Mantener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Q2 - Conservar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Alto riesgo, baja vulnerab.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Fortalecer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Q3 - VULNERABLE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Bajo riesgo, ALTA vulnerab.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INTERVENCION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Q4 - Desarrollo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Alto riesgo, alta vulnerab.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Restaurar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Los 10 Municipios del Workshop: 10 realidades para explorar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Municipio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Cuadrante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Pobreza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Dengue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Gobernanza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Iporanga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54.2%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Campinas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Santos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S. Joaquim 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Miracatu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38.1%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0.41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Eldorado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Francisco Morato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Sao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Aruja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Cerquilho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5 Paradojas que desafian la intuicion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1. Paradoja de gobernanza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Mas politicas --&gt; mas riesgo (reactivo, no preventivo)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2. Paradoja de pobreza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Los mas vulnerables --&gt; menos capacidad adaptativa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3. Paradoja del bosque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Mas cobertura forestal --&gt; menos gobernanza (abandono territorial?)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4. Paradoja de salud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Mortalidad CV no correlaciona con riesgo climatico (subregistro)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5. Paradoja de polinizacion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Deficit polinizacion --&gt; mas gobernanza ambiental (proxy de degradacion)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De la evidencia a la accion: Las actividades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 b="1">
                <a:solidFill>
                  <a:srgbClr val="2E86AB"/>
                </a:solidFill>
              </a:defRPr>
            </a:pPr>
            <a:r>
              <a:t>ACTIVIDAD 2.1: Ranking de Municipios (30 min)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En grupos, ordenen los 10 municipios por prioridad de intervencion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Justifiquen sus criterios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28A745"/>
                </a:solidFill>
              </a:defRPr>
            </a:pPr>
            <a:r>
              <a:t>ACTIVIDAD 2.2: Knowledge Budgets (45 min)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Tienen 10 creditos para 'comprar' informacion adicional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Que datos necesitan para decidir mejor?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F57C00"/>
                </a:solidFill>
              </a:defRPr>
            </a:pPr>
            <a:r>
              <a:t>ACTIVIDAD 2.3: Discusion de Paradojas (30 min)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Como disenar politicas proactivas, no reactivas?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Como priorizar Q3 (vulnerables sin desastres)?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Sistema de Creditos: Que informacion comprarian?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Capa de informacion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Lo que revela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Mapa de inundaciones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Riesgo especifico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Cobertura forestal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Servicios ecosistemicos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Incidencia de dengue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Carga de enfermedad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Poblacion negra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 credito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Justicia ambiental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Pobreza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 credito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Vulnerabilidad economica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Indice gobernanza (UAI)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 creditos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Capacidad institucional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Riqueza de especies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Biodiversidad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Deficit polinizacion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Degradacion agricola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Mortalidad CV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Impacto en salud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Poblacion rural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 credito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Contexto territorial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Como pasamos de gobernanza</a:t>
            </a:r>
            <a:br/>
            <a:r>
              <a:t>REACTIVA a PROACTIVA?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1. Invertir ANTES del desastre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   Como identificar municipios Q3? Como justificar inversion sin urgencia?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2. Priorizar VULNERABILIDAD sobre RIESGO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   Como medir vulnerabilidad? Como comunicar urgencia sin desastre?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3. Integrar BIODIVERSIDAD en politicas de salud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   Como traducir 'efecto dilucion' a politica? Como valorar servicios ecosistemicos?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BACKUP: Metodologia Estadistica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Metodos utilizados: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Correlaciones bivariadas (Pearson)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Modelos lineales mixtos (municipio anidado en microrregion)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Analisis de mediacion (test Sobel, bootstrap)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Analisis de moderacion (interacciones)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SEM - Structural Equation Modeling (semopy)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Seleccion de modelos por AIC (Burnham &amp; Anderson)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Validacion: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Datos DATASUS validados con TABNET (r &gt; 0.99)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GLM Gamma para distribuciones sesgadas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Bootstrap IC 95% para efectos indirectos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BACKUP: Las 5 dimensiones del Urban Adaptation Index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Que mide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Housing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 indicadores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Resiliencia habitacional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Environmental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 indicadores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Gestion ambiental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Food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4 indicadores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Seguridad alimentaria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Mobility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 indicadores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Infraestructura transporte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Climate Risk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6 indicadores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Gestion de riesgos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BACKUP: Referencias Cientificas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Marco conceptual: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Levers et al. (2025) - Nexus assessment framework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Barreto et al. (2025) - Planetary health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Keesing et al. (2010) - Dilution effect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Neder et al. (2021) - Urban Adaptation Index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Metodologia: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Nakagawa &amp; Schielzeth (2013) - R2 marginal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Burnham &amp; Anderson (2002) - Model selection AIC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MacKinnon et al. (2002) - Mediation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Gracias!</a:t>
            </a:r>
          </a:p>
          <a:p>
            <a:pPr algn="ctr">
              <a:spcBef>
                <a:spcPts val="2000"/>
              </a:spcBef>
              <a:defRPr sz="2000">
                <a:solidFill>
                  <a:srgbClr val="ECF0F1"/>
                </a:solidFill>
              </a:defRPr>
            </a:pPr>
            <a:r>
              <a:t>Proyecto en colaboracion entre</a:t>
            </a:r>
            <a:br/>
            <a:r>
              <a:t>Universidade de Sao Paulo y University of York</a:t>
            </a:r>
            <a:br/>
            <a:br/>
            <a:r>
              <a:t>Contacto: adrian.gonzalez@usp.br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